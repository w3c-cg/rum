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roxima Nova"/>
      <p:regular r:id="rId17"/>
      <p:bold r:id="rId18"/>
      <p:italic r:id="rId19"/>
      <p:boldItalic r:id="rId20"/>
    </p:embeddedFont>
    <p:embeddedFont>
      <p:font typeface="Roboto Mono"/>
      <p:regular r:id="rId21"/>
      <p:bold r:id="rId22"/>
      <p:italic r:id="rId23"/>
      <p:boldItalic r:id="rId24"/>
    </p:embeddedFont>
    <p:embeddedFont>
      <p:font typeface="Alfa Slab One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Italic.fntdata"/><Relationship Id="rId22" Type="http://schemas.openxmlformats.org/officeDocument/2006/relationships/font" Target="fonts/RobotoMono-bold.fntdata"/><Relationship Id="rId21" Type="http://schemas.openxmlformats.org/officeDocument/2006/relationships/font" Target="fonts/RobotoMono-regular.fntdata"/><Relationship Id="rId24" Type="http://schemas.openxmlformats.org/officeDocument/2006/relationships/font" Target="fonts/RobotoMono-boldItalic.fntdata"/><Relationship Id="rId23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AlfaSlabOn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roximaNova-regular.fntdata"/><Relationship Id="rId16" Type="http://schemas.openxmlformats.org/officeDocument/2006/relationships/slide" Target="slides/slide11.xml"/><Relationship Id="rId19" Type="http://schemas.openxmlformats.org/officeDocument/2006/relationships/font" Target="fonts/ProximaNova-italic.fntdata"/><Relationship Id="rId18" Type="http://schemas.openxmlformats.org/officeDocument/2006/relationships/font" Target="fonts/ProximaNov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f10f50819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f10f50819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f10f508196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f10f50819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26c8824f33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26c8824f33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e1d2ef84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7e1d2ef84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e1d2ef84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7e1d2ef84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e1d2ef84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e1d2ef84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e1d2ef84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e1d2ef84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e1d2ef84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e1d2ef84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e1d2ef84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e1d2ef84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39c5742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739c5742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w3c/navigation-timing/issues/193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w3c-cg/rum" TargetMode="External"/><Relationship Id="rId4" Type="http://schemas.openxmlformats.org/officeDocument/2006/relationships/hyperlink" Target="https://github.com/orgs/w3c-cg/projects/1" TargetMode="External"/><Relationship Id="rId11" Type="http://schemas.openxmlformats.org/officeDocument/2006/relationships/hyperlink" Target="https://join.slack.com/t/webperformance/shared_invite/zt-2tfv0xswx-ScO5G8CjsWCajTvfXigo~g" TargetMode="External"/><Relationship Id="rId10" Type="http://schemas.openxmlformats.org/officeDocument/2006/relationships/hyperlink" Target="https://groups.google.com/g/rumcg-participants" TargetMode="External"/><Relationship Id="rId12" Type="http://schemas.openxmlformats.org/officeDocument/2006/relationships/hyperlink" Target="https://lists.w3.org/Archives/Public/public-rumcg/" TargetMode="External"/><Relationship Id="rId9" Type="http://schemas.openxmlformats.org/officeDocument/2006/relationships/hyperlink" Target="http://meet.google.com/oot-jtju-qkn" TargetMode="External"/><Relationship Id="rId5" Type="http://schemas.openxmlformats.org/officeDocument/2006/relationships/hyperlink" Target="http://fireflies.ai" TargetMode="External"/><Relationship Id="rId6" Type="http://schemas.openxmlformats.org/officeDocument/2006/relationships/hyperlink" Target="https://docs.google.com/document/d/1rLCI3sySslyZXyZkx5r3c8J1RYBHgYoulyUu-KybLDw/edit?tab=t.0#heading=h.47h6tzdi5d55" TargetMode="External"/><Relationship Id="rId7" Type="http://schemas.openxmlformats.org/officeDocument/2006/relationships/hyperlink" Target="https://docs.google.com/document/d/1rLCI3sySslyZXyZkx5r3c8J1RYBHgYoulyUu-KybLDw/edit?tab=t.0#heading=h.47h6tzdi5d55" TargetMode="External"/><Relationship Id="rId8" Type="http://schemas.openxmlformats.org/officeDocument/2006/relationships/hyperlink" Target="https://bit.ly/rumcg-agenda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bit.ly/rumcg-agenda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w3c/navigation-timing/issues/193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ebkit.org/blog/16458/announcing-interop-2025/" TargetMode="External"/><Relationship Id="rId4" Type="http://schemas.openxmlformats.org/officeDocument/2006/relationships/hyperlink" Target="https://web.dev/blog/interop-2025" TargetMode="External"/><Relationship Id="rId5" Type="http://schemas.openxmlformats.org/officeDocument/2006/relationships/hyperlink" Target="https://www.igalia.com/chats/interop2025" TargetMode="External"/><Relationship Id="rId6" Type="http://schemas.openxmlformats.org/officeDocument/2006/relationships/hyperlink" Target="https://hacks.mozilla.org/2025/02/interop-2025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pt.fyi/interop-2025?feature=interop-2025-core-web-vitals" TargetMode="External"/><Relationship Id="rId4" Type="http://schemas.openxmlformats.org/officeDocument/2006/relationships/hyperlink" Target="https://github.com/web-platform-tests/interop/issues/985" TargetMode="External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web-platform-tests/interop/blob/main/proposal_guide.md" TargetMode="External"/><Relationship Id="rId4" Type="http://schemas.openxmlformats.org/officeDocument/2006/relationships/hyperlink" Target="https://github.com/web-platform-tests/interop/blob/main/2026/README.md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web-platform-tests/interop/issues/1057" TargetMode="External"/><Relationship Id="rId4" Type="http://schemas.openxmlformats.org/officeDocument/2006/relationships/hyperlink" Target="https://github.com/web-platform-tests/interop/issues/1067" TargetMode="External"/><Relationship Id="rId5" Type="http://schemas.openxmlformats.org/officeDocument/2006/relationships/hyperlink" Target="https://github.com/web-platform-tests/interop/issues/1005" TargetMode="External"/><Relationship Id="rId6" Type="http://schemas.openxmlformats.org/officeDocument/2006/relationships/hyperlink" Target="https://github.com/web-platform-tests/interop/issues/994" TargetMode="External"/><Relationship Id="rId7" Type="http://schemas.openxmlformats.org/officeDocument/2006/relationships/hyperlink" Target="https://github.com/web-platform-tests/interop/issues/1069" TargetMode="External"/><Relationship Id="rId8" Type="http://schemas.openxmlformats.org/officeDocument/2006/relationships/hyperlink" Target="https://wpt.fyi/results/resource-timing?label=master&amp;label=experimental&amp;aligned&amp;q=resource-timing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ebperformance.slack.com/archives/C04BK7K1X/p1742947178736999" TargetMode="Externa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920076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RUM Community Group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489924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2025-09-12 Edition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Logistics</a:t>
            </a:r>
            <a:br>
              <a:rPr lang="en" sz="2600"/>
            </a:b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Next Meeting</a:t>
            </a:r>
            <a:br>
              <a:rPr lang="en" sz="2600"/>
            </a:b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/>
              <a:t>Agenda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 sz="2600"/>
              <a:t>Request for feedback on </a:t>
            </a:r>
            <a:r>
              <a:rPr lang="en" sz="26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w3c/navigation-timing/#193</a:t>
            </a:r>
            <a:r>
              <a:rPr lang="en" sz="2600"/>
              <a:t> 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 sz="2600"/>
              <a:t>Interop 2025 Updates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 sz="2600"/>
              <a:t>Interop 2026 Proposals</a:t>
            </a:r>
            <a:endParaRPr sz="2600"/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 sz="2600"/>
              <a:t>Unresponsive crash reports, Self Profiling</a:t>
            </a:r>
            <a:endParaRPr sz="2600"/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706775" y="1152475"/>
            <a:ext cx="4260300" cy="3798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RUM CG Github Repo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github.com/w3c-cg/rum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Group details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Links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Meeting minutes?</a:t>
            </a:r>
            <a:br>
              <a:rPr lang="en">
                <a:solidFill>
                  <a:schemeClr val="accent1"/>
                </a:solidFill>
              </a:rPr>
            </a:b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RUM CG Tracking Project</a:t>
            </a:r>
            <a:endParaRPr>
              <a:solidFill>
                <a:schemeClr val="accen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○"/>
            </a:pPr>
            <a:r>
              <a:rPr lang="en" sz="1300" u="sng">
                <a:solidFill>
                  <a:schemeClr val="hlink"/>
                </a:solidFill>
                <a:hlinkClick r:id="rId4"/>
              </a:rPr>
              <a:t>github.com/orgs/w3c-cg/projects/1</a:t>
            </a:r>
            <a:br>
              <a:rPr lang="en" sz="1300">
                <a:solidFill>
                  <a:schemeClr val="accent1"/>
                </a:solidFill>
              </a:rPr>
            </a:br>
            <a:endParaRPr sz="1300"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Meeting Minutes via </a:t>
            </a:r>
            <a:r>
              <a:rPr lang="en" u="sng">
                <a:solidFill>
                  <a:schemeClr val="hlink"/>
                </a:solidFill>
                <a:hlinkClick r:id="rId5"/>
              </a:rPr>
              <a:t>fireflies.ai</a:t>
            </a:r>
            <a:endParaRPr>
              <a:solidFill>
                <a:schemeClr val="accen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○"/>
            </a:pPr>
            <a:r>
              <a:rPr lang="en" sz="1300">
                <a:solidFill>
                  <a:schemeClr val="accent1"/>
                </a:solidFill>
              </a:rPr>
              <a:t>AI summary + transcript will be posted after</a:t>
            </a:r>
            <a:endParaRPr sz="1300">
              <a:solidFill>
                <a:schemeClr val="accen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○"/>
            </a:pPr>
            <a:r>
              <a:rPr lang="en" sz="1300">
                <a:solidFill>
                  <a:schemeClr val="accent1"/>
                </a:solidFill>
              </a:rPr>
              <a:t>Full video recording also available</a:t>
            </a:r>
            <a:endParaRPr sz="13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4260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Meeting cadence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2nd Friday of the Month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60 minutes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10am ET</a:t>
            </a:r>
            <a:br>
              <a:rPr lang="en">
                <a:solidFill>
                  <a:schemeClr val="accent1"/>
                </a:solidFill>
              </a:rPr>
            </a:b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Age</a:t>
            </a:r>
            <a:r>
              <a:rPr lang="en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nda Document</a:t>
            </a:r>
            <a:endParaRPr>
              <a:solidFill>
                <a:schemeClr val="accent5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○"/>
            </a:pPr>
            <a:r>
              <a:rPr lang="en">
                <a:solidFill>
                  <a:schemeClr val="accent5"/>
                </a:solidFill>
              </a:rPr>
              <a:t>(</a:t>
            </a:r>
            <a:r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bit.ly/rumcg-agenda</a:t>
            </a:r>
            <a:r>
              <a:rPr lang="en">
                <a:solidFill>
                  <a:schemeClr val="accent5"/>
                </a:solidFill>
              </a:rPr>
              <a:t>)</a:t>
            </a:r>
            <a:br>
              <a:rPr lang="en">
                <a:solidFill>
                  <a:schemeClr val="accent5"/>
                </a:solidFill>
              </a:rPr>
            </a:br>
            <a:endParaRPr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●"/>
            </a:pPr>
            <a:r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Meet for Meetings</a:t>
            </a:r>
            <a:endParaRPr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sub to </a:t>
            </a: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rumcg-participants</a:t>
            </a: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for invites</a:t>
            </a:r>
            <a:b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Chat on Web Performance Slack </a:t>
            </a:r>
            <a:r>
              <a:rPr lang="en" sz="14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rPr>
              <a:t>#w3c-rum-community-group</a:t>
            </a:r>
            <a:endParaRPr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○"/>
            </a:pP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invites</a:t>
            </a:r>
            <a:r>
              <a:rPr lang="en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en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>
              <a:solidFill>
                <a:schemeClr val="accen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●"/>
            </a:pPr>
            <a:r>
              <a:rPr lang="en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public-rumcg@w3.org</a:t>
            </a:r>
            <a:endParaRPr>
              <a:solidFill>
                <a:schemeClr val="accent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(for discussions)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Fri </a:t>
            </a:r>
            <a:r>
              <a:rPr b="1" lang="en" u="sng"/>
              <a:t>October 10th</a:t>
            </a:r>
            <a:r>
              <a:rPr lang="en"/>
              <a:t> @ 10am 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2nd </a:t>
            </a:r>
            <a:r>
              <a:rPr lang="en"/>
              <a:t>Friday of each month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Topics?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RUM Archive?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(propose your topic here!)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Submit &amp; Vote topics @ </a:t>
            </a:r>
            <a:r>
              <a:rPr lang="en" sz="1400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bit.ly/rumcg-agenda</a:t>
            </a:r>
            <a:endParaRPr/>
          </a:p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Meeting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1350" y="2944025"/>
            <a:ext cx="3622650" cy="219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Proposal: add timestamp for when "activation" or "dismissal" starts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321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w3c/navigation-timing/#193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Request: Is anyone here interested in measuring this?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Do we have any websites or customers that are seeking visibility into e.g. troublesome event handlers on previous page causing delays?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8800" y="1152470"/>
            <a:ext cx="5263625" cy="211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8894" y="3319619"/>
            <a:ext cx="5000100" cy="173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Announcements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https://webkit.org/blog/16458/announcing-interop-2025/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https://web.dev/blog/interop-2025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https://www.igalia.com/chats/interop2025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https://hacks.mozilla.org/2025/02/interop-2025/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it?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Collaboration between browser vendors and other platform implementors to provide users and web developers with high quality implementations of the web platform.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Each year we select a set of focus areas representing key areas where we want to improve interoperability.</a:t>
            </a:r>
            <a:endParaRPr i="1"/>
          </a:p>
        </p:txBody>
      </p:sp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Interop 2025 Updates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Interop 2025 Updates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7710" y="1170125"/>
            <a:ext cx="6708580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Interop 2025 Updates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16550"/>
            <a:ext cx="41649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https://wpt.fyi/interop-2025?feature=interop-2025-core-web-vitals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Proposal to revert navigation API test regression introduced by WebKit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6500" y="1738363"/>
            <a:ext cx="4258176" cy="322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Interop 2026 Proposals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https://github.com/web-platform-tests/interop/blob/main/proposal_guide.md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https://github.com/web-platform-tests/interop/blob/main/2026/README.md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400"/>
              <a:t>Interop 2026 will open for proposals on September 4, 2025 and the overall timeline is as below. Please note that the timelines are subject to change.</a:t>
            </a:r>
            <a:endParaRPr i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i="1" lang="en" sz="1400"/>
              <a:t>Proposal submission window (~3 weeks): Sept 4th, 2025 through Sept 24th, 2025</a:t>
            </a:r>
            <a:endParaRPr i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 sz="1400"/>
              <a:t>Proposal selection: Before December 11th 2025</a:t>
            </a:r>
            <a:endParaRPr i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 sz="1400"/>
              <a:t>Scope of the Interop 2026 project published: the first half of February, 2026.</a:t>
            </a:r>
            <a:endParaRPr i="1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Interop 2026 Proposals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Interesting proposals already:</a:t>
            </a:r>
            <a:endParaRPr/>
          </a:p>
          <a:p>
            <a:pPr indent="-297497" lvl="0" marL="457200" rtl="0" algn="l">
              <a:spcBef>
                <a:spcPts val="1200"/>
              </a:spcBef>
              <a:spcAft>
                <a:spcPts val="0"/>
              </a:spcAft>
              <a:buSzPct val="77777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Core Web Vitals: CLS / Layout Shift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Long Animation Frames API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requestIdleCallback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JPEG XL image format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fetchLater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Speculation Rules?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ResourceTiming (</a:t>
            </a:r>
            <a:r>
              <a:rPr lang="en" u="sng">
                <a:solidFill>
                  <a:schemeClr val="hlink"/>
                </a:solidFill>
                <a:hlinkClick r:id="rId8"/>
              </a:rPr>
              <a:t>WPT</a:t>
            </a:r>
            <a:r>
              <a:rPr lang="en"/>
              <a:t>)?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CWV LCP + ET what's left?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Signature-Based SRI?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What else!?!?!?!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Next steps:</a:t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"voting" by Dec 11th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16550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https://webperformance.slack.com/archives/C04BK7K1X/p1742947178736999</a:t>
            </a:r>
            <a:endParaRPr/>
          </a:p>
        </p:txBody>
      </p:sp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Unresponsive crash reports + Self Profiling</a:t>
            </a:r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1937" y="1549425"/>
            <a:ext cx="5020125" cy="3510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