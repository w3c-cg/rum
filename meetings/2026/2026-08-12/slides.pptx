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Alfa Slab One"/>
      <p:regular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2" Type="http://schemas.openxmlformats.org/officeDocument/2006/relationships/font" Target="fonts/AlfaSlabOne-regular.fntdata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0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RobotoMedium-bold.fntdata"/><Relationship Id="rId12" Type="http://schemas.openxmlformats.org/officeDocument/2006/relationships/slide" Target="slides/slide7.xml"/><Relationship Id="rId34" Type="http://schemas.openxmlformats.org/officeDocument/2006/relationships/font" Target="fonts/RobotoMedium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edium-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e1d2ef8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e1d2ef8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10f50819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10f5081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6c8824f3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6c8824f3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ff7824d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ff7824d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fefb5674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fefb5674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d298ff6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d298ff6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d298ff6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d298ff6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d62394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6d62394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d623949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d623949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d623949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6d623949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6d623949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6d623949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6d623949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6d623949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6d623949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6d62394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6d623949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6d623949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6d623949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6d623949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6d623949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6d623949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6d623949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6d623949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6d298ff6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6d298ff6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6d298ff6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f6d298ff6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explainers-by-googlers/declarative-performance-observer" TargetMode="External"/><Relationship Id="rId4" Type="http://schemas.openxmlformats.org/officeDocument/2006/relationships/hyperlink" Target="https://github.com/w3c/navigation-timing/pull/161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3c-cg/rum" TargetMode="External"/><Relationship Id="rId4" Type="http://schemas.openxmlformats.org/officeDocument/2006/relationships/hyperlink" Target="https://github.com/orgs/w3c-cg/projects/1" TargetMode="External"/><Relationship Id="rId11" Type="http://schemas.openxmlformats.org/officeDocument/2006/relationships/hyperlink" Target="https://join.slack.com/t/webperformance/shared_invite/zt-2tfv0xswx-ScO5G8CjsWCajTvfXigo~g" TargetMode="External"/><Relationship Id="rId10" Type="http://schemas.openxmlformats.org/officeDocument/2006/relationships/hyperlink" Target="https://groups.google.com/g/rumcg-participants" TargetMode="External"/><Relationship Id="rId12" Type="http://schemas.openxmlformats.org/officeDocument/2006/relationships/hyperlink" Target="https://lists.w3.org/Archives/Public/public-rumcg/" TargetMode="External"/><Relationship Id="rId9" Type="http://schemas.openxmlformats.org/officeDocument/2006/relationships/hyperlink" Target="http://meet.google.com/acc-nfyb-yhv" TargetMode="External"/><Relationship Id="rId5" Type="http://schemas.openxmlformats.org/officeDocument/2006/relationships/hyperlink" Target="http://fireflies.ai" TargetMode="External"/><Relationship Id="rId6" Type="http://schemas.openxmlformats.org/officeDocument/2006/relationships/hyperlink" Target="https://docs.google.com/document/d/1rLCI3sySslyZXyZkx5r3c8J1RYBHgYoulyUu-KybLDw/edit?tab=t.0#heading=h.47h6tzdi5d55" TargetMode="External"/><Relationship Id="rId7" Type="http://schemas.openxmlformats.org/officeDocument/2006/relationships/hyperlink" Target="https://docs.google.com/document/d/1rLCI3sySslyZXyZkx5r3c8J1RYBHgYoulyUu-KybLDw/edit?tab=t.0#heading=h.47h6tzdi5d55" TargetMode="External"/><Relationship Id="rId8" Type="http://schemas.openxmlformats.org/officeDocument/2006/relationships/hyperlink" Target="https://bit.ly/rumcg-agend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rumcg-agenda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explainers-by-googlers/declarative-performance-observer" TargetMode="External"/><Relationship Id="rId4" Type="http://schemas.openxmlformats.org/officeDocument/2006/relationships/hyperlink" Target="https://github.com/vercel/next.js/pull/97232" TargetMode="External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w3c/navigation-timing/pull/161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mdn/content/pull/45053" TargetMode="External"/><Relationship Id="rId4" Type="http://schemas.openxmlformats.org/officeDocument/2006/relationships/hyperlink" Target="https://github.com/mdn/browser-compat-data/pull/30195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google.com/presentation/d/1s9kuZMgddIvafvyRczdxmDvjDSwm3aqA74PuOCmB6dQ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928630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</a:t>
            </a:r>
            <a:br>
              <a:rPr lang="en"/>
            </a:br>
            <a:r>
              <a:rPr lang="en"/>
              <a:t>Community Group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489924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2026-08-12 Edition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Keeping an Eye On:</a:t>
            </a:r>
            <a:endParaRPr sz="2600">
              <a:solidFill>
                <a:srgbClr val="000000"/>
              </a:solidFill>
            </a:endParaRPr>
          </a:p>
          <a:p>
            <a:pPr indent="-3937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○"/>
            </a:pPr>
            <a:r>
              <a:rPr lang="en" sz="26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Declarative Performance Observer</a:t>
            </a:r>
            <a:endParaRPr sz="2600">
              <a:solidFill>
                <a:srgbClr val="000000"/>
              </a:solidFill>
            </a:endParaRPr>
          </a:p>
          <a:p>
            <a:pPr indent="-3937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○"/>
            </a:pPr>
            <a:r>
              <a:rPr lang="en" sz="26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NavigationTiming landing attribute</a:t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Barry's Bytes</a:t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ABC revisit - Agentic Browsers</a:t>
            </a:r>
            <a:endParaRPr sz="3300"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706775" y="1152475"/>
            <a:ext cx="4260300" cy="3798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Github Repo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github.com/w3c-cg/rum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Group details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Links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Meeting minutes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Tracking Project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github.com/orgs/w3c-cg/projects/1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Minutes via </a:t>
            </a:r>
            <a:r>
              <a:rPr lang="en" u="sng">
                <a:solidFill>
                  <a:schemeClr val="hlink"/>
                </a:solidFill>
                <a:hlinkClick r:id="rId5"/>
              </a:rPr>
              <a:t>fireflies.ai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AI summary + transcript will be posted after</a:t>
            </a:r>
            <a:endParaRPr sz="1300"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Full video recording also available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cadence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2nd Wednesday of the Month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60 minutes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10am ET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Age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nda Document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</a:pPr>
            <a:r>
              <a:rPr lang="en">
                <a:solidFill>
                  <a:schemeClr val="accent5"/>
                </a:solidFill>
              </a:rPr>
              <a:t>(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r>
              <a:rPr lang="en">
                <a:solidFill>
                  <a:schemeClr val="accent5"/>
                </a:solidFill>
              </a:rPr>
              <a:t>)</a:t>
            </a:r>
            <a:br>
              <a:rPr lang="en">
                <a:solidFill>
                  <a:schemeClr val="accent5"/>
                </a:solidFill>
              </a:rPr>
            </a:b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Meet for Meetings</a:t>
            </a:r>
            <a:endParaRPr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 to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rumcg-participants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for invites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Chat on Web Performance Slack </a:t>
            </a:r>
            <a:r>
              <a:rPr lang="en" sz="1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#w3c-rum-community-group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invites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public-rumcg@w3.org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(for discussions)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Wed </a:t>
            </a:r>
            <a:r>
              <a:rPr b="1" lang="en" u="sng"/>
              <a:t>September 9</a:t>
            </a:r>
            <a:r>
              <a:rPr b="1" lang="en" u="sng"/>
              <a:t>th</a:t>
            </a:r>
            <a:r>
              <a:rPr lang="en"/>
              <a:t> @ 10am 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</a:t>
            </a:r>
            <a:r>
              <a:rPr b="1" lang="en" u="sng"/>
              <a:t>Wednesday</a:t>
            </a:r>
            <a:r>
              <a:rPr lang="en"/>
              <a:t> </a:t>
            </a:r>
            <a:r>
              <a:rPr lang="en"/>
              <a:t>of each month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Topics?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2CC"/>
                </a:highlight>
              </a:rPr>
              <a:t>?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&amp; Vote topics @ </a:t>
            </a:r>
            <a:r>
              <a:rPr lang="en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Meeting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575" y="1016858"/>
            <a:ext cx="4110401" cy="31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90250" y="526350"/>
            <a:ext cx="6920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Keepin' an Eye 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Declarative Performance Observer</a:t>
            </a:r>
            <a:endParaRPr/>
          </a:p>
        </p:txBody>
      </p:sp>
      <p:sp>
        <p:nvSpPr>
          <p:cNvPr id="88" name="Google Shape;88;p18"/>
          <p:cNvSpPr txBox="1"/>
          <p:nvPr>
            <p:ph idx="4294967295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https://github.com/explainers-by-googlers/declarative-performance-observer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Presented to </a:t>
            </a:r>
            <a:r>
              <a:rPr lang="en" u="sng">
                <a:solidFill>
                  <a:schemeClr val="hlink"/>
                </a:solidFill>
                <a:hlinkClick r:id="rId4"/>
              </a:rPr>
              <a:t>WebPerfWG June 18</a:t>
            </a:r>
            <a:endParaRPr sz="2600"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8625" y="1974525"/>
            <a:ext cx="5686749" cy="304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NavigationTiming landing attribute</a:t>
            </a:r>
            <a:endParaRPr/>
          </a:p>
        </p:txBody>
      </p:sp>
      <p:sp>
        <p:nvSpPr>
          <p:cNvPr id="95" name="Google Shape;95;p19"/>
          <p:cNvSpPr txBox="1"/>
          <p:nvPr>
            <p:ph idx="4294967295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https://github.com/w3c/navigation-timing/pull/161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064" y="1695977"/>
            <a:ext cx="7323873" cy="328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0" y="490950"/>
            <a:ext cx="4161600" cy="41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Navigations have landed!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7300" y="1017725"/>
            <a:ext cx="1764773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425" y="1017725"/>
            <a:ext cx="620828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Navigations - what was the issue again?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592076" y="1117325"/>
            <a:ext cx="31785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15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Traditional multi-page web site</a:t>
            </a:r>
            <a:br>
              <a:rPr b="1" lang="en" sz="1215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15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The first load and follow up loads are counted.</a:t>
            </a:r>
            <a:endParaRPr sz="1215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2"/>
          <p:cNvSpPr/>
          <p:nvPr/>
        </p:nvSpPr>
        <p:spPr>
          <a:xfrm>
            <a:off x="700416" y="1592743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700524" y="2112709"/>
            <a:ext cx="176400" cy="20919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p22"/>
          <p:cNvGrpSpPr/>
          <p:nvPr/>
        </p:nvGrpSpPr>
        <p:grpSpPr>
          <a:xfrm>
            <a:off x="578274" y="1866664"/>
            <a:ext cx="421835" cy="230905"/>
            <a:chOff x="1125750" y="4349406"/>
            <a:chExt cx="359100" cy="227987"/>
          </a:xfrm>
        </p:grpSpPr>
        <p:sp>
          <p:nvSpPr>
            <p:cNvPr id="118" name="Google Shape;118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19" name="Google Shape;119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22"/>
          <p:cNvSpPr txBox="1"/>
          <p:nvPr/>
        </p:nvSpPr>
        <p:spPr>
          <a:xfrm>
            <a:off x="578317" y="4207102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First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Load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1231878" y="1592730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 rot="10800000">
            <a:off x="1289550" y="2838716"/>
            <a:ext cx="62260" cy="37274"/>
          </a:xfrm>
          <a:prstGeom prst="flowChartExtra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1109779" y="4207090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1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1763890" y="1587944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1641791" y="4202304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2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2326392" y="1587944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2918307" y="1587944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3471809" y="1587944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2203838" y="4202304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3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2795754" y="4202304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4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3349167" y="4202304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5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5053336" y="1117325"/>
            <a:ext cx="38241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15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Single-page application</a:t>
            </a:r>
            <a:endParaRPr b="1" sz="1215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15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Only the first page load is reported to RUM and CrUX</a:t>
            </a:r>
            <a:endParaRPr sz="1215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5161671" y="1592743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5161787" y="1592515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" name="Google Shape;135;p22"/>
          <p:cNvGrpSpPr/>
          <p:nvPr/>
        </p:nvGrpSpPr>
        <p:grpSpPr>
          <a:xfrm>
            <a:off x="5039529" y="1866664"/>
            <a:ext cx="421835" cy="230905"/>
            <a:chOff x="1125750" y="4349406"/>
            <a:chExt cx="359100" cy="227987"/>
          </a:xfrm>
        </p:grpSpPr>
        <p:sp>
          <p:nvSpPr>
            <p:cNvPr id="136" name="Google Shape;136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2"/>
          <p:cNvSpPr txBox="1"/>
          <p:nvPr/>
        </p:nvSpPr>
        <p:spPr>
          <a:xfrm>
            <a:off x="5039572" y="4207102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First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Load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5693133" y="1592730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 rot="10800000">
            <a:off x="5750806" y="2838716"/>
            <a:ext cx="62260" cy="37274"/>
          </a:xfrm>
          <a:prstGeom prst="flowChartExtract">
            <a:avLst/>
          </a:prstGeom>
          <a:solidFill>
            <a:srgbClr val="BDC1C6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5571034" y="4207090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1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6225145" y="1587944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 rot="10800000">
            <a:off x="6282309" y="3177217"/>
            <a:ext cx="62260" cy="37274"/>
          </a:xfrm>
          <a:prstGeom prst="flowChartExtract">
            <a:avLst/>
          </a:prstGeom>
          <a:solidFill>
            <a:srgbClr val="BDC1C6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6103046" y="4202304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2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6787648" y="1587944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7379563" y="1587944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7933064" y="1587944"/>
            <a:ext cx="176400" cy="2611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6665094" y="4202304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3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257009" y="4202304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4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7810423" y="4202304"/>
            <a:ext cx="4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575" lIns="0" spcFirstLastPara="1" rIns="92575" wrap="square" tIns="92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4</a:t>
            </a:r>
            <a:endParaRPr sz="810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1232014" y="2639497"/>
            <a:ext cx="176400" cy="15675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22"/>
          <p:cNvGrpSpPr/>
          <p:nvPr/>
        </p:nvGrpSpPr>
        <p:grpSpPr>
          <a:xfrm>
            <a:off x="1109754" y="2393442"/>
            <a:ext cx="421835" cy="230905"/>
            <a:chOff x="1125750" y="4349406"/>
            <a:chExt cx="359100" cy="227987"/>
          </a:xfrm>
        </p:grpSpPr>
        <p:sp>
          <p:nvSpPr>
            <p:cNvPr id="153" name="Google Shape;153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54" name="Google Shape;154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22"/>
          <p:cNvSpPr/>
          <p:nvPr/>
        </p:nvSpPr>
        <p:spPr>
          <a:xfrm>
            <a:off x="1779040" y="2639497"/>
            <a:ext cx="176400" cy="15675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2"/>
          <p:cNvGrpSpPr/>
          <p:nvPr/>
        </p:nvGrpSpPr>
        <p:grpSpPr>
          <a:xfrm>
            <a:off x="1656780" y="2393442"/>
            <a:ext cx="421835" cy="230905"/>
            <a:chOff x="1125750" y="4349406"/>
            <a:chExt cx="359100" cy="227987"/>
          </a:xfrm>
        </p:grpSpPr>
        <p:sp>
          <p:nvSpPr>
            <p:cNvPr id="157" name="Google Shape;157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58" name="Google Shape;158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22"/>
          <p:cNvSpPr/>
          <p:nvPr/>
        </p:nvSpPr>
        <p:spPr>
          <a:xfrm>
            <a:off x="2341000" y="2639497"/>
            <a:ext cx="176400" cy="15675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22"/>
          <p:cNvGrpSpPr/>
          <p:nvPr/>
        </p:nvGrpSpPr>
        <p:grpSpPr>
          <a:xfrm>
            <a:off x="2218740" y="2393442"/>
            <a:ext cx="421835" cy="230905"/>
            <a:chOff x="1125750" y="4349406"/>
            <a:chExt cx="359100" cy="227987"/>
          </a:xfrm>
        </p:grpSpPr>
        <p:sp>
          <p:nvSpPr>
            <p:cNvPr id="161" name="Google Shape;161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62" name="Google Shape;162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22"/>
          <p:cNvSpPr/>
          <p:nvPr/>
        </p:nvSpPr>
        <p:spPr>
          <a:xfrm>
            <a:off x="2905999" y="2639497"/>
            <a:ext cx="176400" cy="15675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22"/>
          <p:cNvGrpSpPr/>
          <p:nvPr/>
        </p:nvGrpSpPr>
        <p:grpSpPr>
          <a:xfrm>
            <a:off x="2783739" y="2393442"/>
            <a:ext cx="421835" cy="230905"/>
            <a:chOff x="1125750" y="4349406"/>
            <a:chExt cx="359100" cy="227987"/>
          </a:xfrm>
        </p:grpSpPr>
        <p:sp>
          <p:nvSpPr>
            <p:cNvPr id="165" name="Google Shape;165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66" name="Google Shape;166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22"/>
          <p:cNvSpPr/>
          <p:nvPr/>
        </p:nvSpPr>
        <p:spPr>
          <a:xfrm>
            <a:off x="3471013" y="2639497"/>
            <a:ext cx="176400" cy="15675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2"/>
          <p:cNvGrpSpPr/>
          <p:nvPr/>
        </p:nvGrpSpPr>
        <p:grpSpPr>
          <a:xfrm>
            <a:off x="3348753" y="2393442"/>
            <a:ext cx="421835" cy="230905"/>
            <a:chOff x="1125750" y="4349406"/>
            <a:chExt cx="359100" cy="227987"/>
          </a:xfrm>
        </p:grpSpPr>
        <p:sp>
          <p:nvSpPr>
            <p:cNvPr id="169" name="Google Shape;169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70" name="Google Shape;170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22"/>
          <p:cNvSpPr/>
          <p:nvPr/>
        </p:nvSpPr>
        <p:spPr>
          <a:xfrm>
            <a:off x="5694001" y="3945479"/>
            <a:ext cx="176400" cy="261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2"/>
          <p:cNvGrpSpPr/>
          <p:nvPr/>
        </p:nvGrpSpPr>
        <p:grpSpPr>
          <a:xfrm>
            <a:off x="5571287" y="3699384"/>
            <a:ext cx="421835" cy="230905"/>
            <a:chOff x="1125750" y="4349406"/>
            <a:chExt cx="359100" cy="227987"/>
          </a:xfrm>
        </p:grpSpPr>
        <p:sp>
          <p:nvSpPr>
            <p:cNvPr id="173" name="Google Shape;173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74" name="Google Shape;174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2"/>
          <p:cNvSpPr/>
          <p:nvPr/>
        </p:nvSpPr>
        <p:spPr>
          <a:xfrm>
            <a:off x="6225198" y="3938313"/>
            <a:ext cx="176400" cy="261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22"/>
          <p:cNvGrpSpPr/>
          <p:nvPr/>
        </p:nvGrpSpPr>
        <p:grpSpPr>
          <a:xfrm>
            <a:off x="6102483" y="3692218"/>
            <a:ext cx="421835" cy="230905"/>
            <a:chOff x="1125750" y="4349406"/>
            <a:chExt cx="359100" cy="227987"/>
          </a:xfrm>
        </p:grpSpPr>
        <p:sp>
          <p:nvSpPr>
            <p:cNvPr id="177" name="Google Shape;177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78" name="Google Shape;178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22"/>
          <p:cNvSpPr/>
          <p:nvPr/>
        </p:nvSpPr>
        <p:spPr>
          <a:xfrm>
            <a:off x="6787686" y="3938313"/>
            <a:ext cx="176400" cy="261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22"/>
          <p:cNvGrpSpPr/>
          <p:nvPr/>
        </p:nvGrpSpPr>
        <p:grpSpPr>
          <a:xfrm>
            <a:off x="6664971" y="3692218"/>
            <a:ext cx="421835" cy="230905"/>
            <a:chOff x="1125750" y="4349406"/>
            <a:chExt cx="359100" cy="227987"/>
          </a:xfrm>
        </p:grpSpPr>
        <p:sp>
          <p:nvSpPr>
            <p:cNvPr id="181" name="Google Shape;181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82" name="Google Shape;182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22"/>
          <p:cNvSpPr/>
          <p:nvPr/>
        </p:nvSpPr>
        <p:spPr>
          <a:xfrm>
            <a:off x="7379601" y="3938313"/>
            <a:ext cx="176400" cy="261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22"/>
          <p:cNvGrpSpPr/>
          <p:nvPr/>
        </p:nvGrpSpPr>
        <p:grpSpPr>
          <a:xfrm>
            <a:off x="7256886" y="3692218"/>
            <a:ext cx="421835" cy="230905"/>
            <a:chOff x="1125750" y="4349406"/>
            <a:chExt cx="359100" cy="227987"/>
          </a:xfrm>
        </p:grpSpPr>
        <p:sp>
          <p:nvSpPr>
            <p:cNvPr id="185" name="Google Shape;185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86" name="Google Shape;186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22"/>
          <p:cNvSpPr/>
          <p:nvPr/>
        </p:nvSpPr>
        <p:spPr>
          <a:xfrm>
            <a:off x="7933103" y="3938313"/>
            <a:ext cx="176400" cy="261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92575" lIns="92575" spcFirstLastPara="1" rIns="92575" wrap="square" tIns="9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2"/>
          <p:cNvGrpSpPr/>
          <p:nvPr/>
        </p:nvGrpSpPr>
        <p:grpSpPr>
          <a:xfrm>
            <a:off x="7810388" y="3692218"/>
            <a:ext cx="421835" cy="230905"/>
            <a:chOff x="1125750" y="4349406"/>
            <a:chExt cx="359100" cy="227987"/>
          </a:xfrm>
        </p:grpSpPr>
        <p:sp>
          <p:nvSpPr>
            <p:cNvPr id="189" name="Google Shape;189;p22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418">
                <a:solidFill>
                  <a:srgbClr val="FFFFFF"/>
                </a:solidFill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92575" lIns="92575" spcFirstLastPara="1" rIns="92575" wrap="square" tIns="92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1" name="Google Shape;191;p22"/>
          <p:cNvCxnSpPr/>
          <p:nvPr/>
        </p:nvCxnSpPr>
        <p:spPr>
          <a:xfrm flipH="1" rot="10800000">
            <a:off x="720450" y="2337125"/>
            <a:ext cx="3050100" cy="3300"/>
          </a:xfrm>
          <a:prstGeom prst="straightConnector1">
            <a:avLst/>
          </a:prstGeom>
          <a:noFill/>
          <a:ln cap="flat" cmpd="sng" w="96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2"/>
          <p:cNvCxnSpPr/>
          <p:nvPr/>
        </p:nvCxnSpPr>
        <p:spPr>
          <a:xfrm flipH="1" rot="10800000">
            <a:off x="5121263" y="1592793"/>
            <a:ext cx="3050100" cy="3300"/>
          </a:xfrm>
          <a:prstGeom prst="straightConnector1">
            <a:avLst/>
          </a:prstGeom>
          <a:noFill/>
          <a:ln cap="flat" cmpd="sng" w="96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2"/>
          <p:cNvCxnSpPr/>
          <p:nvPr/>
        </p:nvCxnSpPr>
        <p:spPr>
          <a:xfrm flipH="1" rot="10800000">
            <a:off x="5161676" y="3475912"/>
            <a:ext cx="3050100" cy="3300"/>
          </a:xfrm>
          <a:prstGeom prst="straightConnector1">
            <a:avLst/>
          </a:prstGeom>
          <a:noFill/>
          <a:ln cap="flat" cmpd="sng" w="9650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4" name="Google Shape;194;p22"/>
          <p:cNvSpPr txBox="1"/>
          <p:nvPr/>
        </p:nvSpPr>
        <p:spPr>
          <a:xfrm>
            <a:off x="6042912" y="3234292"/>
            <a:ext cx="19158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2575" lIns="92575" spcFirstLastPara="1" rIns="92575" wrap="square" tIns="925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Actual average: 1.66s</a:t>
            </a:r>
            <a:endParaRPr sz="1418">
              <a:solidFill>
                <a:srgbClr val="5F6368"/>
              </a:solidFill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6042912" y="1609126"/>
            <a:ext cx="19158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2575" lIns="92575" spcFirstLastPara="1" rIns="92575" wrap="square" tIns="925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Average reported to RUM/CrUX: 5s</a:t>
            </a:r>
            <a:endParaRPr sz="1418">
              <a:solidFill>
                <a:srgbClr val="5F6368"/>
              </a:solidFill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1525255" y="2079629"/>
            <a:ext cx="19158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2575" lIns="92575" spcFirstLastPara="1" rIns="92575" wrap="square" tIns="925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0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Average reported to RUM/CrUX: 3.17s</a:t>
            </a:r>
            <a:endParaRPr sz="1418">
              <a:solidFill>
                <a:srgbClr val="5F636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Navigations - what was the issue again?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1530488" y="1107200"/>
            <a:ext cx="25305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8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Traditional multi-page web site</a:t>
            </a:r>
            <a:br>
              <a:rPr b="1" lang="en" sz="968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968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The first load and follow up loads are counted.</a:t>
            </a:r>
            <a:endParaRPr sz="968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1616738" y="148568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1616824" y="1899632"/>
            <a:ext cx="140400" cy="1665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23"/>
          <p:cNvGrpSpPr/>
          <p:nvPr/>
        </p:nvGrpSpPr>
        <p:grpSpPr>
          <a:xfrm>
            <a:off x="1519513" y="1703768"/>
            <a:ext cx="335830" cy="183826"/>
            <a:chOff x="1125750" y="4349406"/>
            <a:chExt cx="359100" cy="227987"/>
          </a:xfrm>
        </p:grpSpPr>
        <p:sp>
          <p:nvSpPr>
            <p:cNvPr id="206" name="Google Shape;206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23"/>
          <p:cNvSpPr txBox="1"/>
          <p:nvPr/>
        </p:nvSpPr>
        <p:spPr>
          <a:xfrm>
            <a:off x="1519534" y="356699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First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Load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2039839" y="148567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 rot="10800000">
            <a:off x="2085752" y="2477611"/>
            <a:ext cx="49566" cy="29674"/>
          </a:xfrm>
          <a:prstGeom prst="flowChartExtra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942635" y="356698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1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2463378" y="148186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2366174" y="356317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2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2911190" y="148186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3382419" y="148186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3823066" y="148186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2813624" y="356317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3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3284853" y="356317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4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725430" y="356317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5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5082132" y="1107200"/>
            <a:ext cx="3044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8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Single-page application</a:t>
            </a:r>
            <a:endParaRPr b="1" sz="968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8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Only the first page load is reported to RUM and CrUX</a:t>
            </a:r>
            <a:endParaRPr sz="968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168378" y="148568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5168471" y="1485502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" name="Google Shape;223;p23"/>
          <p:cNvGrpSpPr/>
          <p:nvPr/>
        </p:nvGrpSpPr>
        <p:grpSpPr>
          <a:xfrm>
            <a:off x="5071154" y="1703768"/>
            <a:ext cx="335830" cy="183826"/>
            <a:chOff x="1125750" y="4349406"/>
            <a:chExt cx="359100" cy="227987"/>
          </a:xfrm>
        </p:grpSpPr>
        <p:sp>
          <p:nvSpPr>
            <p:cNvPr id="224" name="Google Shape;224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25" name="Google Shape;225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23"/>
          <p:cNvSpPr txBox="1"/>
          <p:nvPr/>
        </p:nvSpPr>
        <p:spPr>
          <a:xfrm>
            <a:off x="5071174" y="356699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First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Load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591479" y="148567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 rot="10800000">
            <a:off x="5637393" y="2477611"/>
            <a:ext cx="49566" cy="29674"/>
          </a:xfrm>
          <a:prstGeom prst="flowChartExtract">
            <a:avLst/>
          </a:prstGeom>
          <a:solidFill>
            <a:srgbClr val="BDC1C6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494275" y="356698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1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015018" y="148186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 rot="10800000">
            <a:off x="6060527" y="2747094"/>
            <a:ext cx="49566" cy="29674"/>
          </a:xfrm>
          <a:prstGeom prst="flowChartExtract">
            <a:avLst/>
          </a:prstGeom>
          <a:solidFill>
            <a:srgbClr val="BDC1C6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917814" y="356317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2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6462831" y="148186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6934059" y="148186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7374706" y="1481863"/>
            <a:ext cx="140400" cy="2079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365265" y="356317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3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6836493" y="356317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4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7277070" y="3563172"/>
            <a:ext cx="3360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0" spcFirstLastPara="1" rIns="73700" wrap="square" tIns="73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Product Page 4</a:t>
            </a:r>
            <a:endParaRPr sz="645">
              <a:solidFill>
                <a:srgbClr val="5F6368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039948" y="2319011"/>
            <a:ext cx="140400" cy="12480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23"/>
          <p:cNvGrpSpPr/>
          <p:nvPr/>
        </p:nvGrpSpPr>
        <p:grpSpPr>
          <a:xfrm>
            <a:off x="1942629" y="2123140"/>
            <a:ext cx="335830" cy="183826"/>
            <a:chOff x="1125750" y="4349406"/>
            <a:chExt cx="359100" cy="227987"/>
          </a:xfrm>
        </p:grpSpPr>
        <p:sp>
          <p:nvSpPr>
            <p:cNvPr id="241" name="Google Shape;241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42" name="Google Shape;242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23"/>
          <p:cNvSpPr/>
          <p:nvPr/>
        </p:nvSpPr>
        <p:spPr>
          <a:xfrm>
            <a:off x="2475439" y="2319011"/>
            <a:ext cx="140400" cy="12480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23"/>
          <p:cNvGrpSpPr/>
          <p:nvPr/>
        </p:nvGrpSpPr>
        <p:grpSpPr>
          <a:xfrm>
            <a:off x="2378121" y="2123140"/>
            <a:ext cx="335830" cy="183826"/>
            <a:chOff x="1125750" y="4349406"/>
            <a:chExt cx="359100" cy="227987"/>
          </a:xfrm>
        </p:grpSpPr>
        <p:sp>
          <p:nvSpPr>
            <p:cNvPr id="245" name="Google Shape;245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" name="Google Shape;247;p23"/>
          <p:cNvSpPr/>
          <p:nvPr/>
        </p:nvSpPr>
        <p:spPr>
          <a:xfrm>
            <a:off x="2922820" y="2319011"/>
            <a:ext cx="140400" cy="12480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" name="Google Shape;248;p23"/>
          <p:cNvGrpSpPr/>
          <p:nvPr/>
        </p:nvGrpSpPr>
        <p:grpSpPr>
          <a:xfrm>
            <a:off x="2825501" y="2123140"/>
            <a:ext cx="335830" cy="183826"/>
            <a:chOff x="1125750" y="4349406"/>
            <a:chExt cx="359100" cy="227987"/>
          </a:xfrm>
        </p:grpSpPr>
        <p:sp>
          <p:nvSpPr>
            <p:cNvPr id="249" name="Google Shape;249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50" name="Google Shape;250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23"/>
          <p:cNvSpPr/>
          <p:nvPr/>
        </p:nvSpPr>
        <p:spPr>
          <a:xfrm>
            <a:off x="3372620" y="2319011"/>
            <a:ext cx="140400" cy="12480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23"/>
          <p:cNvGrpSpPr/>
          <p:nvPr/>
        </p:nvGrpSpPr>
        <p:grpSpPr>
          <a:xfrm>
            <a:off x="3275301" y="2123140"/>
            <a:ext cx="335830" cy="183826"/>
            <a:chOff x="1125750" y="4349406"/>
            <a:chExt cx="359100" cy="227987"/>
          </a:xfrm>
        </p:grpSpPr>
        <p:sp>
          <p:nvSpPr>
            <p:cNvPr id="253" name="Google Shape;253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54" name="Google Shape;254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" name="Google Shape;255;p23"/>
          <p:cNvSpPr/>
          <p:nvPr/>
        </p:nvSpPr>
        <p:spPr>
          <a:xfrm>
            <a:off x="3822432" y="2319011"/>
            <a:ext cx="140400" cy="12480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23"/>
          <p:cNvGrpSpPr/>
          <p:nvPr/>
        </p:nvGrpSpPr>
        <p:grpSpPr>
          <a:xfrm>
            <a:off x="3725113" y="2123140"/>
            <a:ext cx="335830" cy="183826"/>
            <a:chOff x="1125750" y="4349406"/>
            <a:chExt cx="359100" cy="227987"/>
          </a:xfrm>
        </p:grpSpPr>
        <p:sp>
          <p:nvSpPr>
            <p:cNvPr id="257" name="Google Shape;257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58" name="Google Shape;258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3"/>
          <p:cNvSpPr/>
          <p:nvPr/>
        </p:nvSpPr>
        <p:spPr>
          <a:xfrm>
            <a:off x="5592171" y="3358712"/>
            <a:ext cx="140400" cy="2082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23"/>
          <p:cNvGrpSpPr/>
          <p:nvPr/>
        </p:nvGrpSpPr>
        <p:grpSpPr>
          <a:xfrm>
            <a:off x="5494490" y="3162808"/>
            <a:ext cx="335830" cy="183826"/>
            <a:chOff x="1125750" y="4349406"/>
            <a:chExt cx="359100" cy="227987"/>
          </a:xfrm>
        </p:grpSpPr>
        <p:sp>
          <p:nvSpPr>
            <p:cNvPr id="261" name="Google Shape;261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62" name="Google Shape;262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23"/>
          <p:cNvSpPr/>
          <p:nvPr/>
        </p:nvSpPr>
        <p:spPr>
          <a:xfrm>
            <a:off x="6015060" y="3353007"/>
            <a:ext cx="140400" cy="2082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23"/>
          <p:cNvGrpSpPr/>
          <p:nvPr/>
        </p:nvGrpSpPr>
        <p:grpSpPr>
          <a:xfrm>
            <a:off x="5917380" y="3157103"/>
            <a:ext cx="335830" cy="183826"/>
            <a:chOff x="1125750" y="4349406"/>
            <a:chExt cx="359100" cy="227987"/>
          </a:xfrm>
        </p:grpSpPr>
        <p:sp>
          <p:nvSpPr>
            <p:cNvPr id="265" name="Google Shape;265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66" name="Google Shape;266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23"/>
          <p:cNvSpPr/>
          <p:nvPr/>
        </p:nvSpPr>
        <p:spPr>
          <a:xfrm>
            <a:off x="6462862" y="3353007"/>
            <a:ext cx="140400" cy="2082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3"/>
          <p:cNvGrpSpPr/>
          <p:nvPr/>
        </p:nvGrpSpPr>
        <p:grpSpPr>
          <a:xfrm>
            <a:off x="6365181" y="3157103"/>
            <a:ext cx="335830" cy="183826"/>
            <a:chOff x="1125750" y="4349406"/>
            <a:chExt cx="359100" cy="227987"/>
          </a:xfrm>
        </p:grpSpPr>
        <p:sp>
          <p:nvSpPr>
            <p:cNvPr id="269" name="Google Shape;269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23"/>
          <p:cNvSpPr/>
          <p:nvPr/>
        </p:nvSpPr>
        <p:spPr>
          <a:xfrm>
            <a:off x="6934090" y="3353007"/>
            <a:ext cx="140400" cy="2082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23"/>
          <p:cNvGrpSpPr/>
          <p:nvPr/>
        </p:nvGrpSpPr>
        <p:grpSpPr>
          <a:xfrm>
            <a:off x="6836409" y="3157103"/>
            <a:ext cx="335830" cy="183826"/>
            <a:chOff x="1125750" y="4349406"/>
            <a:chExt cx="359100" cy="227987"/>
          </a:xfrm>
        </p:grpSpPr>
        <p:sp>
          <p:nvSpPr>
            <p:cNvPr id="273" name="Google Shape;273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3"/>
          <p:cNvSpPr/>
          <p:nvPr/>
        </p:nvSpPr>
        <p:spPr>
          <a:xfrm>
            <a:off x="7374737" y="3353007"/>
            <a:ext cx="140400" cy="2082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DC1C6"/>
          </a:solidFill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23"/>
          <p:cNvGrpSpPr/>
          <p:nvPr/>
        </p:nvGrpSpPr>
        <p:grpSpPr>
          <a:xfrm>
            <a:off x="7277056" y="3157103"/>
            <a:ext cx="335830" cy="183826"/>
            <a:chOff x="1125750" y="4349406"/>
            <a:chExt cx="359100" cy="227987"/>
          </a:xfrm>
        </p:grpSpPr>
        <p:sp>
          <p:nvSpPr>
            <p:cNvPr id="277" name="Google Shape;277;p23"/>
            <p:cNvSpPr/>
            <p:nvPr/>
          </p:nvSpPr>
          <p:spPr>
            <a:xfrm>
              <a:off x="1125750" y="4349406"/>
              <a:ext cx="359100" cy="192900"/>
            </a:xfrm>
            <a:prstGeom prst="roundRect">
              <a:avLst>
                <a:gd fmla="val 16667" name="adj"/>
              </a:avLst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1s</a:t>
              </a:r>
              <a:endParaRPr b="1" sz="1129">
                <a:solidFill>
                  <a:srgbClr val="FFFFFF"/>
                </a:solidFill>
              </a:endParaRPr>
            </a:p>
          </p:txBody>
        </p:sp>
        <p:sp>
          <p:nvSpPr>
            <p:cNvPr id="278" name="Google Shape;278;p23"/>
            <p:cNvSpPr/>
            <p:nvPr/>
          </p:nvSpPr>
          <p:spPr>
            <a:xfrm rot="10800000">
              <a:off x="1278794" y="4540593"/>
              <a:ext cx="53000" cy="36800"/>
            </a:xfrm>
            <a:prstGeom prst="flowChartExtract">
              <a:avLst/>
            </a:prstGeom>
            <a:solidFill>
              <a:srgbClr val="BDC1C6"/>
            </a:solidFill>
            <a:ln>
              <a:noFill/>
            </a:ln>
          </p:spPr>
          <p:txBody>
            <a:bodyPr anchorCtr="0" anchor="ctr" bIns="73700" lIns="73700" spcFirstLastPara="1" rIns="73700" wrap="square" tIns="7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79" name="Google Shape;279;p23"/>
          <p:cNvCxnSpPr/>
          <p:nvPr/>
        </p:nvCxnSpPr>
        <p:spPr>
          <a:xfrm flipH="1" rot="10800000">
            <a:off x="1632687" y="2078218"/>
            <a:ext cx="2428200" cy="2700"/>
          </a:xfrm>
          <a:prstGeom prst="straightConnector1">
            <a:avLst/>
          </a:prstGeom>
          <a:noFill/>
          <a:ln cap="flat" cmpd="sng" w="76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3"/>
          <p:cNvCxnSpPr/>
          <p:nvPr/>
        </p:nvCxnSpPr>
        <p:spPr>
          <a:xfrm flipH="1" rot="10800000">
            <a:off x="5136209" y="1485651"/>
            <a:ext cx="2428200" cy="2700"/>
          </a:xfrm>
          <a:prstGeom prst="straightConnector1">
            <a:avLst/>
          </a:prstGeom>
          <a:noFill/>
          <a:ln cap="flat" cmpd="sng" w="76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3"/>
          <p:cNvCxnSpPr/>
          <p:nvPr/>
        </p:nvCxnSpPr>
        <p:spPr>
          <a:xfrm flipH="1" rot="10800000">
            <a:off x="5168383" y="2984814"/>
            <a:ext cx="2428200" cy="2700"/>
          </a:xfrm>
          <a:prstGeom prst="straightConnector1">
            <a:avLst/>
          </a:prstGeom>
          <a:noFill/>
          <a:ln cap="flat" cmpd="sng" w="76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2" name="Google Shape;282;p23"/>
          <p:cNvSpPr txBox="1"/>
          <p:nvPr/>
        </p:nvSpPr>
        <p:spPr>
          <a:xfrm>
            <a:off x="5869941" y="2792532"/>
            <a:ext cx="1525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73700" spcFirstLastPara="1" rIns="73700" wrap="square" tIns="73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Actual average: 1.66s</a:t>
            </a:r>
            <a:endParaRPr sz="1129">
              <a:solidFill>
                <a:srgbClr val="5F6368"/>
              </a:solidFill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5869941" y="1498726"/>
            <a:ext cx="1525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73700" spcFirstLastPara="1" rIns="73700" wrap="square" tIns="73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Average reported to RUM/CrUX: 5s</a:t>
            </a:r>
            <a:endParaRPr sz="1129">
              <a:solidFill>
                <a:srgbClr val="5F6368"/>
              </a:solidFill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2273399" y="1873297"/>
            <a:ext cx="1525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73700" spcFirstLastPara="1" rIns="73700" wrap="square" tIns="73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solidFill>
                  <a:srgbClr val="5F6368"/>
                </a:solidFill>
                <a:latin typeface="Roboto Medium"/>
                <a:ea typeface="Roboto Medium"/>
                <a:cs typeface="Roboto Medium"/>
                <a:sym typeface="Roboto Medium"/>
              </a:rPr>
              <a:t>Average reported to RUM/CrUX: 3.17s</a:t>
            </a:r>
            <a:endParaRPr sz="1129">
              <a:solidFill>
                <a:srgbClr val="5F6368"/>
              </a:solidFill>
            </a:endParaRPr>
          </a:p>
        </p:txBody>
      </p:sp>
      <p:sp>
        <p:nvSpPr>
          <p:cNvPr id="285" name="Google Shape;285;p23"/>
          <p:cNvSpPr txBox="1"/>
          <p:nvPr>
            <p:ph idx="4294967295" type="body"/>
          </p:nvPr>
        </p:nvSpPr>
        <p:spPr>
          <a:xfrm>
            <a:off x="311700" y="3938075"/>
            <a:ext cx="8832300" cy="11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Metrics are incomplete/wrong.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Blind to soft navigation load time.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 are attributed to the wrong page.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Navigations - what is it?</a:t>
            </a:r>
            <a:endParaRPr/>
          </a:p>
        </p:txBody>
      </p:sp>
      <p:sp>
        <p:nvSpPr>
          <p:cNvPr id="291" name="Google Shape;291;p24"/>
          <p:cNvSpPr txBox="1"/>
          <p:nvPr>
            <p:ph idx="4294967295" type="body"/>
          </p:nvPr>
        </p:nvSpPr>
        <p:spPr>
          <a:xfrm>
            <a:off x="311700" y="1116550"/>
            <a:ext cx="8832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new performance APIs landed, unflagged, in Chrome 151 (stable July 28th):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Mono"/>
              <a:buChar char="○"/>
            </a:pPr>
            <a:r>
              <a:rPr lang="en">
                <a:latin typeface="Google Sans Mono"/>
                <a:ea typeface="Google Sans Mono"/>
                <a:cs typeface="Google Sans Mono"/>
                <a:sym typeface="Google Sans Mono"/>
              </a:rPr>
              <a:t>PerformanceSoftNavigation</a:t>
            </a:r>
            <a:endParaRPr>
              <a:latin typeface="Google Sans Mono"/>
              <a:ea typeface="Google Sans Mono"/>
              <a:cs typeface="Google Sans Mono"/>
              <a:sym typeface="Google Sans Mon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Triggers when a soft nav happens. Allows slicing CLS and INP.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Mono"/>
              <a:buChar char="○"/>
            </a:pPr>
            <a:r>
              <a:rPr lang="en">
                <a:latin typeface="Google Sans Mono"/>
                <a:ea typeface="Google Sans Mono"/>
                <a:cs typeface="Google Sans Mono"/>
                <a:sym typeface="Google Sans Mono"/>
              </a:rPr>
              <a:t>InteractionContentfulPaint</a:t>
            </a:r>
            <a:endParaRPr>
              <a:latin typeface="Google Sans Mono"/>
              <a:ea typeface="Google Sans Mono"/>
              <a:cs typeface="Google Sans Mono"/>
              <a:sym typeface="Google Sans Mon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Triggers when an interaction causes a paint. Allows measuring soft LCP.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MDN documentation in progesss (</a:t>
            </a:r>
            <a:r>
              <a:rPr lang="en" u="sng">
                <a:solidFill>
                  <a:schemeClr val="hlink"/>
                </a:solidFill>
                <a:hlinkClick r:id="rId3"/>
              </a:rPr>
              <a:t>content#45053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compat data#30195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Web-vitals v6 includes 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Opt in! Not on by default.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include URL when beaconing back metrics.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not include support for measuring yourself (though TTFB could be used for that).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CrUX </a:t>
            </a:r>
            <a:r>
              <a:rPr lang="en"/>
              <a:t>support</a:t>
            </a:r>
            <a:r>
              <a:rPr lang="en"/>
              <a:t> is coming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ETA… yet.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Experimental at first.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Navigations - DevTools support</a:t>
            </a:r>
            <a:endParaRPr/>
          </a:p>
        </p:txBody>
      </p:sp>
      <p:pic>
        <p:nvPicPr>
          <p:cNvPr id="297" name="Google Shape;297;p25" title="softnavs-in-devtool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551" y="1017725"/>
            <a:ext cx="596444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>
            <p:ph idx="4294967295" type="body"/>
          </p:nvPr>
        </p:nvSpPr>
        <p:spPr>
          <a:xfrm>
            <a:off x="152775" y="1116550"/>
            <a:ext cx="2709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Chrome 144</a:t>
            </a:r>
            <a:br>
              <a:rPr lang="en"/>
            </a:br>
            <a:r>
              <a:rPr lang="en"/>
              <a:t>added Nav* and LCP* markers to traces.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Chrome 152</a:t>
            </a:r>
            <a:br>
              <a:rPr lang="en"/>
            </a:br>
            <a:r>
              <a:rPr lang="en"/>
              <a:t>adds support to</a:t>
            </a:r>
            <a:br>
              <a:rPr lang="en"/>
            </a:br>
            <a:r>
              <a:rPr lang="en"/>
              <a:t>Live Metrics</a:t>
            </a:r>
            <a:br>
              <a:rPr lang="en"/>
            </a:br>
            <a:r>
              <a:rPr lang="en"/>
              <a:t>(on by default).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b="1" lang="en"/>
              <a:t>Chrome 153</a:t>
            </a:r>
            <a:br>
              <a:rPr lang="en"/>
            </a:br>
            <a:r>
              <a:rPr lang="en"/>
              <a:t>adds support to trace Insights</a:t>
            </a:r>
            <a:br>
              <a:rPr lang="en"/>
            </a:br>
            <a:r>
              <a:rPr lang="en"/>
              <a:t>(on by default).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Navigations caveats</a:t>
            </a:r>
            <a:endParaRPr/>
          </a:p>
        </p:txBody>
      </p:sp>
      <p:pic>
        <p:nvPicPr>
          <p:cNvPr id="304" name="Google Shape;304;p26" title="genie-provisos (1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83425" y="0"/>
            <a:ext cx="10241250" cy="51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Navigations - caveats</a:t>
            </a:r>
            <a:endParaRPr/>
          </a:p>
        </p:txBody>
      </p:sp>
      <p:sp>
        <p:nvSpPr>
          <p:cNvPr id="310" name="Google Shape;310;p27"/>
          <p:cNvSpPr txBox="1"/>
          <p:nvPr>
            <p:ph idx="4294967295" type="body"/>
          </p:nvPr>
        </p:nvSpPr>
        <p:spPr>
          <a:xfrm>
            <a:off x="311700" y="1116550"/>
            <a:ext cx="8832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Chromium only (including Edge, Opera, Vivaldi…etc.)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More on this later...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browser’s definition of “soft navigation” may differ from yours. Or your frameworks.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MPAs may have soft </a:t>
            </a:r>
            <a:r>
              <a:rPr lang="en"/>
              <a:t>navigations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Hard Navs metrics change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LCP does not change. But blended LCP changes the overall “score”.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INP is only measured up until the first soft nav. Better attribution to the page that has INP issues.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CLS is only measured up until the first soft nav. Better attribution to the page that has CLS issues.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Soft Navs are different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Content is already loaded. Resources are not requested.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Measures from click start (includes event handling).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do about non-supporting browsers?</a:t>
            </a:r>
            <a:endParaRPr/>
          </a:p>
        </p:txBody>
      </p:sp>
      <p:sp>
        <p:nvSpPr>
          <p:cNvPr id="316" name="Google Shape;316;p28"/>
          <p:cNvSpPr txBox="1"/>
          <p:nvPr>
            <p:ph idx="4294967295" type="body"/>
          </p:nvPr>
        </p:nvSpPr>
        <p:spPr>
          <a:xfrm>
            <a:off x="311700" y="1116550"/>
            <a:ext cx="8832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Can fake it</a:t>
            </a:r>
            <a:endParaRPr b="1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has been tried before with limited success…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LCP very difficult (impossible?) to measure this way.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INP possible.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CLS basically non-issue (Chromium only).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Can accept Chromium is now different</a:t>
            </a:r>
            <a:endParaRPr b="1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Not ideal, but was the case for a long time (and still is for CLS).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Can ignore until better cross-browser compatibility</a:t>
            </a:r>
            <a:endParaRPr b="1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Not recommended, valuable data in there now, you’d miss out on.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 ETA on when/if this will happen.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Can measure both where supported</a:t>
            </a:r>
            <a:endParaRPr b="1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 SPA for better attribution and to match CrUX.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 non-SPA to understand differences between browsers.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do about non-supporting browsers?</a:t>
            </a:r>
            <a:endParaRPr/>
          </a:p>
        </p:txBody>
      </p:sp>
      <p:sp>
        <p:nvSpPr>
          <p:cNvPr id="322" name="Google Shape;322;p29"/>
          <p:cNvSpPr txBox="1"/>
          <p:nvPr>
            <p:ph idx="4294967295" type="body"/>
          </p:nvPr>
        </p:nvSpPr>
        <p:spPr>
          <a:xfrm>
            <a:off x="311700" y="1116550"/>
            <a:ext cx="8832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Can fake it</a:t>
            </a:r>
            <a:endParaRPr b="1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has been tried before with limited success…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LCP very difficult (impossible?) to measure this way.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INP possible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CLS basically non-issue (Chromium only).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Can accept Chromium is now different</a:t>
            </a:r>
            <a:endParaRPr b="1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Not ideal, but was the case for a long time (and still is for CLS).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Can ignore until better cross-browser compatibility</a:t>
            </a:r>
            <a:endParaRPr b="1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Not recommended, valuable data in there now</a:t>
            </a:r>
            <a:r>
              <a:rPr lang="en"/>
              <a:t>, you’d miss out on.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 ETA on when/if this will happen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Can measure both where supported</a:t>
            </a:r>
            <a:endParaRPr b="1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 SPA for better attribution and to match CrUX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 non-SPA to understand differences between browsers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6410400" y="1905000"/>
            <a:ext cx="24219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Try it!</a:t>
            </a:r>
            <a:endParaRPr b="1" sz="2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If it’s valuable, then let the other browsers know!</a:t>
            </a:r>
            <a:endParaRPr b="1" sz="2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Navigations - Questions and Feedback</a:t>
            </a:r>
            <a:endParaRPr/>
          </a:p>
        </p:txBody>
      </p:sp>
      <p:sp>
        <p:nvSpPr>
          <p:cNvPr id="329" name="Google Shape;329;p30"/>
          <p:cNvSpPr txBox="1"/>
          <p:nvPr>
            <p:ph idx="4294967295" type="body"/>
          </p:nvPr>
        </p:nvSpPr>
        <p:spPr>
          <a:xfrm>
            <a:off x="311700" y="1152600"/>
            <a:ext cx="8832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your customers asking for this?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you planning on using this?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not, why not?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you doing for the cross-browser story?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else can we (Chrome) do for this? In Chrome, in </a:t>
            </a:r>
            <a:r>
              <a:rPr lang="en"/>
              <a:t>web-vitals, </a:t>
            </a:r>
            <a:r>
              <a:rPr lang="en"/>
              <a:t>in Tooling, in docs, in specs?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Any bugs/issues discovered?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 txBox="1"/>
          <p:nvPr>
            <p:ph type="title"/>
          </p:nvPr>
        </p:nvSpPr>
        <p:spPr>
          <a:xfrm>
            <a:off x="490250" y="526350"/>
            <a:ext cx="7710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Browser RUM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Browser RUM</a:t>
            </a:r>
            <a:endParaRPr/>
          </a:p>
        </p:txBody>
      </p:sp>
      <p:sp>
        <p:nvSpPr>
          <p:cNvPr id="340" name="Google Shape;340;p32"/>
          <p:cNvSpPr txBox="1"/>
          <p:nvPr>
            <p:ph idx="4294967295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Slides @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https://docs.google.com/presentation/d/1s9kuZMgddIvafvyRczdxmDvjDSwm3aqA74PuOCmB6dQ/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