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  <p:embeddedFont>
      <p:font typeface="Alfa Slab One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lfaSlabOne-regular.fntdata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e1d2ef84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e1d2ef8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f10f50819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f10f50819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6c8824f3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6c8824f3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ff7824d6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ff7824d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ff7824d6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ff7824d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e03184c74_15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e03184c74_15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e03184c74_15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e03184c74_15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trend is consistent. Adoption starts strong at ~71% for top 1K–10K ranked sites and gradually declines to ~56% for the top 50M, suggesting that the largest, most popular sites are actually better at implementing Server Timing than the long tail. In reality, likely b/c these sites are larger, more </a:t>
            </a:r>
            <a:r>
              <a:rPr lang="en"/>
              <a:t>prevalent</a:t>
            </a:r>
            <a:r>
              <a:rPr lang="en"/>
              <a:t> brands using a CDN or potentially Shopify to </a:t>
            </a:r>
            <a:r>
              <a:rPr lang="en"/>
              <a:t>deliver</a:t>
            </a:r>
            <a:r>
              <a:rPr lang="en"/>
              <a:t> their content.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e03184c74_15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e03184c74_15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e03184c7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e03184c7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e03184c7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e03184c7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e03184c74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e03184c74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e03184c74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e03184c74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e03184c74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e03184c74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e03184c74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e03184c74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e03184c7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e03184c7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w3c/performance-timeline/issues/228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w3c-cg/rum" TargetMode="External"/><Relationship Id="rId4" Type="http://schemas.openxmlformats.org/officeDocument/2006/relationships/hyperlink" Target="https://github.com/orgs/w3c-cg/projects/1" TargetMode="External"/><Relationship Id="rId11" Type="http://schemas.openxmlformats.org/officeDocument/2006/relationships/hyperlink" Target="https://join.slack.com/t/webperformance/shared_invite/zt-2tfv0xswx-ScO5G8CjsWCajTvfXigo~g" TargetMode="External"/><Relationship Id="rId10" Type="http://schemas.openxmlformats.org/officeDocument/2006/relationships/hyperlink" Target="https://groups.google.com/g/rumcg-participants" TargetMode="External"/><Relationship Id="rId12" Type="http://schemas.openxmlformats.org/officeDocument/2006/relationships/hyperlink" Target="https://lists.w3.org/Archives/Public/public-rumcg/" TargetMode="External"/><Relationship Id="rId9" Type="http://schemas.openxmlformats.org/officeDocument/2006/relationships/hyperlink" Target="http://meet.google.com/oot-jtju-qkn" TargetMode="External"/><Relationship Id="rId5" Type="http://schemas.openxmlformats.org/officeDocument/2006/relationships/hyperlink" Target="http://fireflies.ai" TargetMode="External"/><Relationship Id="rId6" Type="http://schemas.openxmlformats.org/officeDocument/2006/relationships/hyperlink" Target="https://docs.google.com/document/d/1rLCI3sySslyZXyZkx5r3c8J1RYBHgYoulyUu-KybLDw/edit?tab=t.0#heading=h.47h6tzdi5d55" TargetMode="External"/><Relationship Id="rId7" Type="http://schemas.openxmlformats.org/officeDocument/2006/relationships/hyperlink" Target="https://docs.google.com/document/d/1rLCI3sySslyZXyZkx5r3c8J1RYBHgYoulyUu-KybLDw/edit?tab=t.0#heading=h.47h6tzdi5d55" TargetMode="External"/><Relationship Id="rId8" Type="http://schemas.openxmlformats.org/officeDocument/2006/relationships/hyperlink" Target="https://bit.ly/rumcg-agend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rumcg-agenda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w3c/performance-timeline/issues/228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cloudflare/web-bot-auth" TargetMode="External"/><Relationship Id="rId4" Type="http://schemas.openxmlformats.org/officeDocument/2006/relationships/hyperlink" Target="https://github.com/ai-robots-txt/ai.robots.tx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311700" y="928630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</a:t>
            </a:r>
            <a:br>
              <a:rPr lang="en"/>
            </a:br>
            <a:r>
              <a:rPr lang="en"/>
              <a:t>Community Group</a:t>
            </a:r>
            <a:endParaRPr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700" y="3489924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2026-04-08 Edition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Timeline option per-paint (performance-timeline</a:t>
            </a:r>
            <a:r>
              <a:rPr lang="en" u="sng">
                <a:solidFill>
                  <a:schemeClr val="hlink"/>
                </a:solidFill>
                <a:hlinkClick r:id="rId3"/>
              </a:rPr>
              <a:t>#228</a:t>
            </a:r>
            <a:r>
              <a:rPr lang="en"/>
              <a:t>) (Michal)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TAO and ServerTiming Header Adoption Updates (Cliff)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RUM ABCs (AI, Bots and Crawlers) (Philip et. al)</a:t>
            </a:r>
            <a:endParaRPr/>
          </a:p>
        </p:txBody>
      </p:sp>
      <p:sp>
        <p:nvSpPr>
          <p:cNvPr id="108" name="Google Shape;10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4706775" y="1152475"/>
            <a:ext cx="4260300" cy="3798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Github Repo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github.com/w3c-cg/rum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Group details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Links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Meeting minutes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Tracking Project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github.com/orgs/w3c-cg/projects/1</a:t>
            </a:r>
            <a:br>
              <a:rPr lang="en" sz="1300">
                <a:solidFill>
                  <a:schemeClr val="accent1"/>
                </a:solidFill>
              </a:rPr>
            </a:br>
            <a:endParaRPr sz="1300"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Minutes via </a:t>
            </a:r>
            <a:r>
              <a:rPr lang="en" u="sng">
                <a:solidFill>
                  <a:schemeClr val="hlink"/>
                </a:solidFill>
                <a:hlinkClick r:id="rId5"/>
              </a:rPr>
              <a:t>fireflies.ai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AI summary + transcript will be posted after</a:t>
            </a:r>
            <a:endParaRPr sz="1300"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Full video recording also available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114" name="Google Shape;114;p27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cadence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2nd Wednesday of the Month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60 minutes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10am ET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Age</a:t>
            </a: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nda Document</a:t>
            </a:r>
            <a:endParaRPr>
              <a:solidFill>
                <a:schemeClr val="accent5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</a:pPr>
            <a:r>
              <a:rPr lang="en">
                <a:solidFill>
                  <a:schemeClr val="accent5"/>
                </a:solidFill>
              </a:rPr>
              <a:t>(</a:t>
            </a: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r>
              <a:rPr lang="en">
                <a:solidFill>
                  <a:schemeClr val="accent5"/>
                </a:solidFill>
              </a:rPr>
              <a:t>)</a:t>
            </a:r>
            <a:br>
              <a:rPr lang="en">
                <a:solidFill>
                  <a:schemeClr val="accent5"/>
                </a:solidFill>
              </a:rPr>
            </a:b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Meet for Meetings</a:t>
            </a:r>
            <a:endParaRPr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sub to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rumcg-participants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for invites</a:t>
            </a:r>
            <a:b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Chat on Web Performance Slack </a:t>
            </a:r>
            <a:r>
              <a:rPr lang="en" sz="14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#w3c-rum-community-group</a:t>
            </a: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invites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chemeClr val="accen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public-rumcg@w3.org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(for discussions)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Wed </a:t>
            </a:r>
            <a:r>
              <a:rPr b="1" lang="en" u="sng"/>
              <a:t>May 13</a:t>
            </a:r>
            <a:r>
              <a:rPr b="1" lang="en" u="sng"/>
              <a:t>th</a:t>
            </a:r>
            <a:r>
              <a:rPr lang="en"/>
              <a:t> @ 10am 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2nd </a:t>
            </a:r>
            <a:r>
              <a:rPr b="1" lang="en" u="sng"/>
              <a:t>Wednesday</a:t>
            </a:r>
            <a:r>
              <a:rPr lang="en"/>
              <a:t> </a:t>
            </a:r>
            <a:r>
              <a:rPr lang="en"/>
              <a:t>of each month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Topics?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2CC"/>
                </a:highlight>
              </a:rPr>
              <a:t>?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Submit &amp; Vote topics @ </a:t>
            </a:r>
            <a:r>
              <a:rPr lang="en" sz="14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endParaRPr/>
          </a:p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Meeting</a:t>
            </a:r>
            <a:endParaRPr/>
          </a:p>
        </p:txBody>
      </p:sp>
      <p:pic>
        <p:nvPicPr>
          <p:cNvPr id="122" name="Google Shape;12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545" y="1293857"/>
            <a:ext cx="3273750" cy="255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do this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Timeline option per-paint</a:t>
            </a:r>
            <a:endParaRPr/>
          </a:p>
        </p:txBody>
      </p:sp>
      <p:sp>
        <p:nvSpPr>
          <p:cNvPr id="133" name="Google Shape;133;p30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https://github.com/w3c/performance-timeline/issues/228</a:t>
            </a:r>
            <a:endParaRPr/>
          </a:p>
        </p:txBody>
      </p:sp>
      <p:pic>
        <p:nvPicPr>
          <p:cNvPr id="134" name="Google Shape;13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9287" y="1649061"/>
            <a:ext cx="4925425" cy="331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C18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1" title="adoption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312" y="965325"/>
            <a:ext cx="7489373" cy="417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77216"/>
                </a:solidFill>
              </a:rPr>
              <a:t>Server-Timing Header Adoption</a:t>
            </a:r>
            <a:endParaRPr>
              <a:solidFill>
                <a:srgbClr val="F77216"/>
              </a:solidFill>
            </a:endParaRPr>
          </a:p>
        </p:txBody>
      </p:sp>
      <p:sp>
        <p:nvSpPr>
          <p:cNvPr id="141" name="Google Shape;141;p31"/>
          <p:cNvSpPr txBox="1"/>
          <p:nvPr/>
        </p:nvSpPr>
        <p:spPr>
          <a:xfrm>
            <a:off x="5892725" y="4570700"/>
            <a:ext cx="325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HTTP Archive: 2020 - 2026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C18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2" title="adoption_by_rank_desktop_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288" y="0"/>
            <a:ext cx="687142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2"/>
          <p:cNvSpPr txBox="1"/>
          <p:nvPr/>
        </p:nvSpPr>
        <p:spPr>
          <a:xfrm>
            <a:off x="5892725" y="4570700"/>
            <a:ext cx="325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HTTP Archive: Feb 2026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C18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ServerTiming Header Adoption</a:t>
            </a:r>
            <a:endParaRPr/>
          </a:p>
        </p:txBody>
      </p:sp>
      <p:pic>
        <p:nvPicPr>
          <p:cNvPr id="153" name="Google Shape;153;p33" title="server-timing-word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113"/>
            <a:ext cx="9143997" cy="504526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3"/>
          <p:cNvSpPr txBox="1"/>
          <p:nvPr/>
        </p:nvSpPr>
        <p:spPr>
          <a:xfrm>
            <a:off x="0" y="0"/>
            <a:ext cx="325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HTTP Archive: Feb 2026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 ABCs (AI, Bots and Crawlers)</a:t>
            </a:r>
            <a:endParaRPr/>
          </a:p>
        </p:txBody>
      </p:sp>
      <p:sp>
        <p:nvSpPr>
          <p:cNvPr id="160" name="Google Shape;160;p34"/>
          <p:cNvSpPr txBox="1"/>
          <p:nvPr>
            <p:ph idx="1" type="body"/>
          </p:nvPr>
        </p:nvSpPr>
        <p:spPr>
          <a:xfrm>
            <a:off x="311700" y="1491875"/>
            <a:ext cx="85206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Most AI bots don't execute JavaScript or send an mPulse beacon</a:t>
            </a:r>
            <a:endParaRPr sz="2000"/>
          </a:p>
          <a:p>
            <a:pPr indent="-355600" lvl="0" marL="457200" rtl="0" algn="l">
              <a:spcBef>
                <a:spcPts val="2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Our security team has helped us identify which of our beacons did come from AI bots (~0.005%)</a:t>
            </a:r>
            <a:endParaRPr sz="2000"/>
          </a:p>
          <a:p>
            <a:pPr indent="-355600" lvl="0" marL="457200" rtl="0" algn="l">
              <a:spcBef>
                <a:spcPts val="2000"/>
              </a:spcBef>
              <a:spcAft>
                <a:spcPts val="2000"/>
              </a:spcAft>
              <a:buSzPts val="2000"/>
              <a:buChar char="●"/>
            </a:pPr>
            <a:r>
              <a:rPr lang="en" sz="2000"/>
              <a:t>The most interesting thing is the difference in which pages are viewed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types of AI Bots</a:t>
            </a:r>
            <a:endParaRPr/>
          </a:p>
        </p:txBody>
      </p:sp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Training Crawlers</a:t>
            </a:r>
            <a:br>
              <a:rPr lang="en"/>
            </a:br>
            <a:r>
              <a:rPr lang="en" sz="1400"/>
              <a:t>Used to train AI models</a:t>
            </a:r>
            <a:endParaRPr sz="14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Search Crawlers</a:t>
            </a:r>
            <a:br>
              <a:rPr lang="en"/>
            </a:br>
            <a:r>
              <a:rPr lang="en" sz="1400"/>
              <a:t>Used to provide search summaries</a:t>
            </a:r>
            <a:endParaRPr sz="14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Fetchers</a:t>
            </a:r>
            <a:br>
              <a:rPr lang="en"/>
            </a:br>
            <a:r>
              <a:rPr lang="en" sz="1400"/>
              <a:t>Act on a user's behalf to answer a very specific question via simple web requests. These do not maintain state.</a:t>
            </a:r>
            <a:endParaRPr sz="1400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AI Agents</a:t>
            </a:r>
            <a:br>
              <a:rPr lang="en"/>
            </a:br>
            <a:r>
              <a:rPr lang="en" sz="1400"/>
              <a:t>Act on a user's behalf to perform complex tasks like "but me a good pair of sneakers at the best rate". These maintain state and have memory.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v/s Bot Behavio(u)r</a:t>
            </a:r>
            <a:endParaRPr/>
          </a:p>
        </p:txBody>
      </p:sp>
      <p:sp>
        <p:nvSpPr>
          <p:cNvPr id="172" name="Google Shape;17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Human</a:t>
            </a:r>
            <a:r>
              <a:rPr lang="en"/>
              <a:t> traffic has a 70-30 split between full page (including bfcache) and SPA hits.</a:t>
            </a:r>
            <a:endParaRPr/>
          </a:p>
        </p:txBody>
      </p:sp>
      <p:pic>
        <p:nvPicPr>
          <p:cNvPr id="173" name="Google Shape;173;p36" title="Human-traff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03602"/>
            <a:ext cx="9143999" cy="2314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v/s Bot Behavio(u)r</a:t>
            </a:r>
            <a:endParaRPr/>
          </a:p>
        </p:txBody>
      </p:sp>
      <p:sp>
        <p:nvSpPr>
          <p:cNvPr id="179" name="Google Shape;17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Training &amp; Search </a:t>
            </a:r>
            <a:r>
              <a:rPr lang="en">
                <a:solidFill>
                  <a:schemeClr val="accent3"/>
                </a:solidFill>
              </a:rPr>
              <a:t>Crawlers</a:t>
            </a:r>
            <a:r>
              <a:rPr lang="en"/>
              <a:t> have a 95-5 split between full page and SPAs</a:t>
            </a:r>
            <a:endParaRPr/>
          </a:p>
        </p:txBody>
      </p:sp>
      <p:pic>
        <p:nvPicPr>
          <p:cNvPr id="180" name="Google Shape;180;p37" title="AI Training Crawlers-traff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97265"/>
            <a:ext cx="9143999" cy="14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7" title="AI Search Crawlers-traffi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287325"/>
            <a:ext cx="9144001" cy="166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v/s Bot Behavio(u)r</a:t>
            </a:r>
            <a:endParaRPr/>
          </a:p>
        </p:txBody>
      </p:sp>
      <p:sp>
        <p:nvSpPr>
          <p:cNvPr id="187" name="Google Shape;18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Fetchers and Agents have an 88-12 split between full page and SPAs</a:t>
            </a:r>
            <a:endParaRPr/>
          </a:p>
        </p:txBody>
      </p:sp>
      <p:pic>
        <p:nvPicPr>
          <p:cNvPr id="188" name="Google Shape;188;p38" title="AI Fetchers-traff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01016"/>
            <a:ext cx="9143999" cy="14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8" title="AI Agents-traffi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282397"/>
            <a:ext cx="9144001" cy="167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v/s Bot Behavio(u)r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fa Slab One"/>
                <a:ea typeface="Alfa Slab One"/>
                <a:cs typeface="Alfa Slab One"/>
                <a:sym typeface="Alfa Slab One"/>
              </a:rPr>
              <a:t>Summary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Human: 72% Full Page v/s 28% SPA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Training Crawlers: 98% Full Page v/s 2% SPA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Search Crawlers: 96% Full Page v/s 4% SPA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Fetchers: 89% Full Page v/s 11% SPA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Agents: 88% Full Page v/s 12% SPA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Our data also shows 80% bounce rate for AI bots, but I'm not confident in that.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 ABCs (AI, Bots and Crawlers)</a:t>
            </a:r>
            <a:endParaRPr/>
          </a:p>
        </p:txBody>
      </p:sp>
      <p:sp>
        <p:nvSpPr>
          <p:cNvPr id="201" name="Google Shape;201;p40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much do we think bots present in RUM data?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could / should AI crawlers identify themselves?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 Agent, IP, ASN?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Web Bot Auth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https://github.com/cloudflare/web-bot-auth</a:t>
            </a:r>
            <a:r>
              <a:rPr lang="en"/>
              <a:t>) 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https://github.com/ai-robots-txt/ai.robots.txt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could / should AI/agentic browsers identify themselves?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Comet, Atlas, Neon, etc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Do "they" even care about performance?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