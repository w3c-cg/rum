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  <p:embeddedFont>
      <p:font typeface="Alfa Slab One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lfaSlabOn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e1d2ef84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e1d2ef8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10f50819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f10f50819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6c8824f3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6c8824f3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ff7824d6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ff7824d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ff7824d6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ff7824d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ed4a2f7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ed4a2f7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efa0277a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efa0277a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efa0277a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efa0277a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ee2134c4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ee2134c4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ee2134c48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ee2134c4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ee2134c4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ee2134c4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ee2134c48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ee2134c48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ee2134c48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ee2134c48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ee2134c48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ee2134c48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w3c-cg/rum" TargetMode="External"/><Relationship Id="rId4" Type="http://schemas.openxmlformats.org/officeDocument/2006/relationships/hyperlink" Target="https://github.com/orgs/w3c-cg/projects/1" TargetMode="External"/><Relationship Id="rId11" Type="http://schemas.openxmlformats.org/officeDocument/2006/relationships/hyperlink" Target="https://join.slack.com/t/webperformance/shared_invite/zt-2tfv0xswx-ScO5G8CjsWCajTvfXigo~g" TargetMode="External"/><Relationship Id="rId10" Type="http://schemas.openxmlformats.org/officeDocument/2006/relationships/hyperlink" Target="https://groups.google.com/g/rumcg-participants" TargetMode="External"/><Relationship Id="rId12" Type="http://schemas.openxmlformats.org/officeDocument/2006/relationships/hyperlink" Target="https://lists.w3.org/Archives/Public/public-rumcg/" TargetMode="External"/><Relationship Id="rId9" Type="http://schemas.openxmlformats.org/officeDocument/2006/relationships/hyperlink" Target="http://meet.google.com/oot-jtju-qkn" TargetMode="External"/><Relationship Id="rId5" Type="http://schemas.openxmlformats.org/officeDocument/2006/relationships/hyperlink" Target="http://fireflies.ai" TargetMode="External"/><Relationship Id="rId6" Type="http://schemas.openxmlformats.org/officeDocument/2006/relationships/hyperlink" Target="https://docs.google.com/document/d/1rLCI3sySslyZXyZkx5r3c8J1RYBHgYoulyUu-KybLDw/edit?tab=t.0#heading=h.47h6tzdi5d55" TargetMode="External"/><Relationship Id="rId7" Type="http://schemas.openxmlformats.org/officeDocument/2006/relationships/hyperlink" Target="https://docs.google.com/document/d/1rLCI3sySslyZXyZkx5r3c8J1RYBHgYoulyUu-KybLDw/edit?tab=t.0#heading=h.47h6tzdi5d55" TargetMode="External"/><Relationship Id="rId8" Type="http://schemas.openxmlformats.org/officeDocument/2006/relationships/hyperlink" Target="https://bit.ly/rumcg-agend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rumcg-agenda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eb.dev/blog/interop-2026" TargetMode="External"/><Relationship Id="rId4" Type="http://schemas.openxmlformats.org/officeDocument/2006/relationships/hyperlink" Target="https://wpt.fyi/interop-2026" TargetMode="External"/><Relationship Id="rId5" Type="http://schemas.openxmlformats.org/officeDocument/2006/relationships/hyperlink" Target="https://github.com/web-platform-tests/interop/issues/1173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WICG/speculative_load_measurement/blob/main/README.md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olab.research.google.com/drive/1y11hnB_me7kIEbM1di-0h0pWCpM9v_wY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928630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</a:t>
            </a:r>
            <a:br>
              <a:rPr lang="en"/>
            </a:br>
            <a:r>
              <a:rPr lang="en"/>
              <a:t>Community Group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489924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2026-03-11 Edition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Interop 2026 updates (Nic)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Unused Preload RUM (Yoav)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Core Web Vitals (CWV) across the browsers (All)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Server-timing header adoption updates (Cliff)</a:t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706775" y="1152475"/>
            <a:ext cx="4260300" cy="3798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Github Repo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github.com/w3c-cg/rum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Group details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Links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Meeting minutes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Tracking Project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github.com/orgs/w3c-cg/projects/1</a:t>
            </a:r>
            <a:br>
              <a:rPr lang="en" sz="1300">
                <a:solidFill>
                  <a:schemeClr val="accent1"/>
                </a:solidFill>
              </a:rPr>
            </a:br>
            <a:endParaRPr sz="1300"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Minutes via </a:t>
            </a:r>
            <a:r>
              <a:rPr lang="en" u="sng">
                <a:solidFill>
                  <a:schemeClr val="hlink"/>
                </a:solidFill>
                <a:hlinkClick r:id="rId5"/>
              </a:rPr>
              <a:t>fireflies.ai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AI summary + transcript will be posted after</a:t>
            </a:r>
            <a:endParaRPr sz="1300"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Full video recording also available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cadence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2nd Wednesday of the Month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60 minutes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10am ET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Age</a:t>
            </a: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nda Document</a:t>
            </a:r>
            <a:endParaRPr>
              <a:solidFill>
                <a:schemeClr val="accent5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</a:pPr>
            <a:r>
              <a:rPr lang="en">
                <a:solidFill>
                  <a:schemeClr val="accent5"/>
                </a:solidFill>
              </a:rPr>
              <a:t>(</a:t>
            </a: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r>
              <a:rPr lang="en">
                <a:solidFill>
                  <a:schemeClr val="accent5"/>
                </a:solidFill>
              </a:rPr>
              <a:t>)</a:t>
            </a:r>
            <a:br>
              <a:rPr lang="en">
                <a:solidFill>
                  <a:schemeClr val="accent5"/>
                </a:solidFill>
              </a:rPr>
            </a:b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Meet for Meetings</a:t>
            </a:r>
            <a:endParaRPr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sub to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rumcg-participants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for invites</a:t>
            </a:r>
            <a:b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Chat on Web Performance Slack </a:t>
            </a:r>
            <a:r>
              <a:rPr lang="en" sz="14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#w3c-rum-community-group</a:t>
            </a: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invites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chemeClr val="accen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public-rumcg@w3.org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(for discussions)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Wed </a:t>
            </a:r>
            <a:r>
              <a:rPr b="1" lang="en" u="sng"/>
              <a:t>April 8</a:t>
            </a:r>
            <a:r>
              <a:rPr b="1" lang="en" u="sng"/>
              <a:t>th</a:t>
            </a:r>
            <a:r>
              <a:rPr lang="en"/>
              <a:t> @ 10am 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2nd </a:t>
            </a:r>
            <a:r>
              <a:rPr b="1" lang="en" u="sng"/>
              <a:t>Wednesday</a:t>
            </a:r>
            <a:r>
              <a:rPr lang="en"/>
              <a:t> </a:t>
            </a:r>
            <a:r>
              <a:rPr lang="en"/>
              <a:t>of each month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Topics?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2CC"/>
                </a:highlight>
              </a:rPr>
              <a:t>Bot and bad actor detection (bad CWV bots)</a:t>
            </a:r>
            <a:endParaRPr>
              <a:highlight>
                <a:srgbClr val="FFF2CC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2CC"/>
                </a:highlight>
              </a:rPr>
              <a:t>AI browsers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Submit &amp; Vote topics @ </a:t>
            </a:r>
            <a:r>
              <a:rPr lang="en" sz="14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endParaRPr/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Meeting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545" y="1293857"/>
            <a:ext cx="3273750" cy="255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we go yo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Interop 2026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https://web.dev/blog/interop-2026</a:t>
            </a:r>
            <a:r>
              <a:rPr lang="en"/>
              <a:t> (blog)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https://wpt.fyi/interop-2026</a:t>
            </a:r>
            <a:r>
              <a:rPr lang="en"/>
              <a:t> (dashboard)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Carryover Evaluation for Core Web Vitals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https://github.com/web-platform-tests/interop/issues/1173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&gt; Thank you for proposing Carryover evaluation for Core Web Vitals for Interop 2026.</a:t>
            </a:r>
            <a:endParaRPr i="1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&gt; We want to let you know it was not selected to be part of Interop this year.</a:t>
            </a:r>
            <a:endParaRPr i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included for 2026: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scheduler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requestIdleCallback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Speculation Rules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Unused Preload RUM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1000"/>
              </a:spcAft>
              <a:buSzPts val="1700"/>
              <a:buChar char="●"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https://github.com/WICG/speculative_load_measurement/blob/main/README.md</a:t>
            </a:r>
            <a:endParaRPr sz="1700"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8563" y="1638425"/>
            <a:ext cx="4146875" cy="334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CWV Across Browsers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RUM Archive Analysis: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https://colab.research.google.com/drive/1y11hnB_me7kIEbM1di-0h0pWCpM9v_wY?usp=sharing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C18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 title="lcp_desktop_top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80" y="0"/>
            <a:ext cx="844062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/>
        </p:nvSpPr>
        <p:spPr>
          <a:xfrm>
            <a:off x="6301800" y="4590600"/>
            <a:ext cx="28422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SpeedCurve - Desktop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C18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 title="lcp_desktop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3513"/>
            <a:ext cx="9144003" cy="457647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2"/>
          <p:cNvSpPr txBox="1"/>
          <p:nvPr/>
        </p:nvSpPr>
        <p:spPr>
          <a:xfrm>
            <a:off x="7402725" y="2314075"/>
            <a:ext cx="16818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77216"/>
                </a:solidFill>
                <a:latin typeface="Proxima Nova"/>
                <a:ea typeface="Proxima Nova"/>
                <a:cs typeface="Proxima Nova"/>
                <a:sym typeface="Proxima Nova"/>
              </a:rPr>
              <a:t>1.91s</a:t>
            </a:r>
            <a:endParaRPr sz="1800">
              <a:solidFill>
                <a:srgbClr val="F7721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7331650" y="3525250"/>
            <a:ext cx="16818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BDF8"/>
                </a:solidFill>
                <a:latin typeface="Proxima Nova"/>
                <a:ea typeface="Proxima Nova"/>
                <a:cs typeface="Proxima Nova"/>
                <a:sym typeface="Proxima Nova"/>
              </a:rPr>
              <a:t>1.66s</a:t>
            </a:r>
            <a:endParaRPr sz="1800">
              <a:solidFill>
                <a:srgbClr val="38BDF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5476500" y="4590600"/>
            <a:ext cx="36675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SpeedCurve - Desktop (Mac OS X)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C1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 title="lcp_mobile_top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700" y="0"/>
            <a:ext cx="844060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3"/>
          <p:cNvSpPr txBox="1"/>
          <p:nvPr/>
        </p:nvSpPr>
        <p:spPr>
          <a:xfrm>
            <a:off x="6301800" y="4590600"/>
            <a:ext cx="28422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SpeedCurve - Mobile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C18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4" title="mobile lcp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13" y="537300"/>
            <a:ext cx="9117174" cy="4068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/>
          <p:nvPr/>
        </p:nvSpPr>
        <p:spPr>
          <a:xfrm>
            <a:off x="7581725" y="3730775"/>
            <a:ext cx="16818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77216"/>
                </a:solidFill>
                <a:latin typeface="Proxima Nova"/>
                <a:ea typeface="Proxima Nova"/>
                <a:cs typeface="Proxima Nova"/>
                <a:sym typeface="Proxima Nova"/>
              </a:rPr>
              <a:t>1.74s</a:t>
            </a:r>
            <a:endParaRPr sz="1800">
              <a:solidFill>
                <a:srgbClr val="F7721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7832150" y="2782900"/>
            <a:ext cx="16818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BDF8"/>
                </a:solidFill>
                <a:latin typeface="Proxima Nova"/>
                <a:ea typeface="Proxima Nova"/>
                <a:cs typeface="Proxima Nova"/>
                <a:sym typeface="Proxima Nova"/>
              </a:rPr>
              <a:t>1.86s</a:t>
            </a:r>
            <a:endParaRPr sz="1800">
              <a:solidFill>
                <a:srgbClr val="38BDF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6301800" y="4590600"/>
            <a:ext cx="28422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SpeedCurve - Mobile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SpeedCurve Data - LCP on Mobile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C1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 title="inp_top5_table_deskto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688" y="0"/>
            <a:ext cx="844062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6301800" y="4590600"/>
            <a:ext cx="28422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SpeedCurve - Desktop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C18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SpeedCurve Data - INP on Desktop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6" title="inp_desktop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638" y="1110975"/>
            <a:ext cx="7560735" cy="382097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/>
        </p:nvSpPr>
        <p:spPr>
          <a:xfrm>
            <a:off x="7175475" y="3935950"/>
            <a:ext cx="16818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BDF8"/>
                </a:solidFill>
                <a:latin typeface="Proxima Nova"/>
                <a:ea typeface="Proxima Nova"/>
                <a:cs typeface="Proxima Nova"/>
                <a:sym typeface="Proxima Nova"/>
              </a:rPr>
              <a:t>64m</a:t>
            </a:r>
            <a:r>
              <a:rPr lang="en" sz="1800">
                <a:solidFill>
                  <a:srgbClr val="38BDF8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endParaRPr sz="1800">
              <a:solidFill>
                <a:srgbClr val="38BDF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7223075" y="2227725"/>
            <a:ext cx="16818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77216"/>
                </a:solidFill>
                <a:latin typeface="Proxima Nova"/>
                <a:ea typeface="Proxima Nova"/>
                <a:cs typeface="Proxima Nova"/>
                <a:sym typeface="Proxima Nova"/>
              </a:rPr>
              <a:t>160ms</a:t>
            </a:r>
            <a:endParaRPr sz="1800">
              <a:solidFill>
                <a:srgbClr val="F7721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5476500" y="4590600"/>
            <a:ext cx="36675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SpeedCurve - Desktop (Mac OS X)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C18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SpeedCurve Data - INP on Mobile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7" title="inp_mobile_top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713" y="0"/>
            <a:ext cx="847458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7"/>
          <p:cNvSpPr txBox="1"/>
          <p:nvPr/>
        </p:nvSpPr>
        <p:spPr>
          <a:xfrm>
            <a:off x="6301800" y="4590600"/>
            <a:ext cx="28422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SpeedCurve - Mobile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